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834640"/>
            <a:ext cx="2286000" cy="45720"/>
          </a:xfrm>
          <a:prstGeom prst="rect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EC8E3"/>
                </a:solidFill>
              </a:rPr>
              <a:t>CLOSING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Engagement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4D8"/>
                </a:solidFill>
              </a:rPr>
              <a:t>April 2026  |  Westchester Medical Center Health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9BB5"/>
                </a:solidFill>
              </a:rPr>
              <a:t>Source: Press Ganey  |  2026-04-01 – 2026-04-30  |  Generated: 2026-05-01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D2B55"/>
                </a:solidFill>
              </a:rPr>
              <a:t>Network Overview – April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55A64"/>
                </a:solidFill>
              </a:rPr>
              <a:t>All Regions  |  Westchester Medical Center Health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9659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965960" cy="73152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07008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7C7C"/>
                </a:solidFill>
              </a:rPr>
              <a:t>95.2%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78308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55A64"/>
                </a:solidFill>
              </a:rPr>
              <a:t>Avg Engagement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05740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8909C"/>
                </a:solidFill>
              </a:rPr>
              <a:t>vs prior year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1097280"/>
            <a:ext cx="19659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23160" y="1097280"/>
            <a:ext cx="1965960" cy="7315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79" y="1207008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2B55"/>
                </a:solidFill>
              </a:rPr>
              <a:t>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79" y="178308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55A64"/>
                </a:solidFill>
              </a:rPr>
              <a:t>Total Tasks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79" y="205740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8909C"/>
                </a:solidFill>
              </a:rPr>
              <a:t>total feedback records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097280"/>
            <a:ext cx="19659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097280"/>
            <a:ext cx="1965960" cy="731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207008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7D32"/>
                </a:solidFill>
              </a:rPr>
              <a:t>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178308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55A64"/>
                </a:solidFill>
              </a:rPr>
              <a:t>Closed Tasks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05740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8909C"/>
                </a:solidFill>
              </a:rPr>
              <a:t>95.2% close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1097280"/>
            <a:ext cx="19659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20840" y="1097280"/>
            <a:ext cx="1965960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1207008"/>
            <a:ext cx="1874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65100"/>
                </a:solidFill>
              </a:rPr>
              <a:t>6 HRS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178308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55A64"/>
                </a:solidFill>
              </a:rPr>
              <a:t>Avg Time to Close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05740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8909C"/>
                </a:solidFill>
              </a:rPr>
              <a:t>from review to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Sentiment Distribution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063240"/>
            <a:ext cx="5888736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54496" y="3063240"/>
            <a:ext cx="1093622" cy="4114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48118" y="3063240"/>
            <a:ext cx="1430121" cy="41148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520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✔ Positive 70%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520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65100"/>
                </a:solidFill>
              </a:rPr>
              <a:t>◆ Neutral 13%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3520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B71C1C"/>
                </a:solidFill>
              </a:rPr>
              <a:t>✖ Negative 17%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37947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Top Locations by Engagement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114800"/>
            <a:ext cx="8412480" cy="274320"/>
          </a:xfrm>
          <a:prstGeom prst="rect">
            <a:avLst/>
          </a:prstGeom>
          <a:solidFill>
            <a:srgbClr val="F4F8FB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151376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55A64"/>
                </a:solidFill>
              </a:rPr>
              <a:t>MidHudson Regional Hospital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4151376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E7D32"/>
                </a:solidFill>
              </a:rPr>
              <a:t>100.0%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15137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D7C7C"/>
                </a:solidFill>
              </a:rPr>
              <a:t>North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407408"/>
            <a:ext cx="8412480" cy="2743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44398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55A64"/>
                </a:solidFill>
              </a:rPr>
              <a:t>MidHudson Regional Hospital Emergency Departm...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444398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E7D32"/>
                </a:solidFill>
              </a:rPr>
              <a:t>100.0%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444398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D7C7C"/>
                </a:solidFill>
              </a:rPr>
              <a:t>North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700016"/>
            <a:ext cx="8412480" cy="274320"/>
          </a:xfrm>
          <a:prstGeom prst="rect">
            <a:avLst/>
          </a:prstGeom>
          <a:solidFill>
            <a:srgbClr val="F4F8FB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55A64"/>
                </a:solidFill>
              </a:rPr>
              <a:t>Maria Fareri Children's Hospital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473659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E7D32"/>
                </a:solidFill>
              </a:rPr>
              <a:t>100.0%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473659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E7D32"/>
                </a:solidFill>
              </a:rPr>
              <a:t>South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992624"/>
            <a:ext cx="8412480" cy="2743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02920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55A64"/>
                </a:solidFill>
              </a:rPr>
              <a:t>Good Samaritan Hospital Emergency Department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5029200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E7D32"/>
                </a:solidFill>
              </a:rPr>
              <a:t>100.0%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502920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65100"/>
                </a:solidFill>
              </a:rPr>
              <a:t>West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285232"/>
            <a:ext cx="8412480" cy="274320"/>
          </a:xfrm>
          <a:prstGeom prst="rect">
            <a:avLst/>
          </a:prstGeom>
          <a:solidFill>
            <a:srgbClr val="F4F8FB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5321808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55A64"/>
                </a:solidFill>
              </a:rPr>
              <a:t>Westchester Medical Center Emergency Departme...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532180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E7D32"/>
                </a:solidFill>
              </a:rPr>
              <a:t>100.0%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0" y="532180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E7D32"/>
                </a:solidFill>
              </a:rPr>
              <a:t>South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577840"/>
            <a:ext cx="8412480" cy="2743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614416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55A64"/>
                </a:solidFill>
              </a:rPr>
              <a:t>Behavioral Health Center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0" y="5614416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E7D32"/>
                </a:solidFill>
              </a:rPr>
              <a:t>100.0%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561441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E7D32"/>
                </a:solidFill>
              </a:rPr>
              <a:t>South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D2B55"/>
                </a:solidFill>
              </a:rPr>
              <a:t>Regional Performance – April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55A64"/>
                </a:solidFill>
              </a:rPr>
              <a:t>Engagement Rate, Tasks &amp; Avg Time to Close by Region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269748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269748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1155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South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59" y="1536192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E7D32"/>
                </a:solidFill>
              </a:rPr>
              <a:t>96.2%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59" y="21488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55A64"/>
                </a:solidFill>
              </a:rPr>
              <a:t>26 Tasks  |  Avg: 5 HRS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59" y="2514600"/>
            <a:ext cx="1804181" cy="182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69941" y="2514600"/>
            <a:ext cx="400929" cy="1828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70870" y="2514600"/>
            <a:ext cx="400929" cy="18288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1097280"/>
            <a:ext cx="269748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54680" y="1097280"/>
            <a:ext cx="2697480" cy="411480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11155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North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536192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D7C7C"/>
                </a:solidFill>
              </a:rPr>
              <a:t>96.2%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1488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55A64"/>
                </a:solidFill>
              </a:rPr>
              <a:t>26 Tasks  |  Avg: 7 HRS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514600"/>
            <a:ext cx="1904413" cy="182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04813" y="2514600"/>
            <a:ext cx="300696" cy="1828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05510" y="2514600"/>
            <a:ext cx="400929" cy="18288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89320" y="1097280"/>
            <a:ext cx="269748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1097280"/>
            <a:ext cx="2697480" cy="4114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59" y="11155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1536192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65100"/>
                </a:solidFill>
              </a:rPr>
              <a:t>100.0%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1488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55A64"/>
                </a:solidFill>
              </a:rPr>
              <a:t>9 Tasks  |  Avg: 2 HRS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2514600"/>
            <a:ext cx="2026920" cy="182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61960" y="2514600"/>
            <a:ext cx="289560" cy="1828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51520" y="2514600"/>
            <a:ext cx="289560" cy="18288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2461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</a:rPr>
              <a:t>Engagement by Source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566160"/>
            <a:ext cx="8412480" cy="2926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5844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5844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35844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Closed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58444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867912"/>
            <a:ext cx="8412480" cy="274320"/>
          </a:xfrm>
          <a:prstGeom prst="rect">
            <a:avLst/>
          </a:prstGeom>
          <a:solidFill>
            <a:srgbClr val="F4F8FB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39044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55A64"/>
                </a:solidFill>
              </a:rPr>
              <a:t>Google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390448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55A64"/>
                </a:solidFill>
              </a:rPr>
              <a:t>61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32120" y="390448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55A64"/>
                </a:solidFill>
              </a:rPr>
              <a:t>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390448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</a:rPr>
              <a:t>98.4%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160520"/>
            <a:ext cx="8412480" cy="2743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4197096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55A64"/>
                </a:solidFill>
              </a:rPr>
              <a:t>Yelp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419709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55A64"/>
                </a:solidFill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2120" y="419709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55A64"/>
                </a:solidFill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419709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71C1C"/>
                </a:solidFill>
              </a:rPr>
              <a:t>0.0%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D2B55"/>
                </a:solidFill>
              </a:rPr>
              <a:t>Task Owner Performance – April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55A64"/>
                </a:solidFill>
              </a:rPr>
              <a:t>Engagement rates by task owner across all regions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789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39" y="107899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10789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Closed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0789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Engagement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0789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Avg Time to Close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89888"/>
            <a:ext cx="8412480" cy="301752"/>
          </a:xfrm>
          <a:prstGeom prst="rect">
            <a:avLst/>
          </a:prstGeom>
          <a:solidFill>
            <a:srgbClr val="F4F8FB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3560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55A64"/>
                </a:solidFill>
              </a:rPr>
              <a:t>Managed Engagements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39" y="143560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55A64"/>
                </a:solidFill>
              </a:rPr>
              <a:t>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43560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55A64"/>
                </a:solidFill>
              </a:rPr>
              <a:t>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43560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</a:rPr>
              <a:t>100.0%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14356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55A64"/>
                </a:solidFill>
              </a:rPr>
              <a:t>6 HRS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709928"/>
            <a:ext cx="8412480" cy="301752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75564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55A64"/>
                </a:solidFill>
              </a:rPr>
              <a:t>Review Engagement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39" y="175564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55A64"/>
                </a:solidFill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175564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55A64"/>
                </a:solidFill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17556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65100"/>
                </a:solidFill>
              </a:rPr>
              <a:t>81.8%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17556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55A64"/>
                </a:solidFill>
              </a:rPr>
              <a:t>11 HRS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029967"/>
            <a:ext cx="8412480" cy="301752"/>
          </a:xfrm>
          <a:prstGeom prst="rect">
            <a:avLst/>
          </a:prstGeom>
          <a:solidFill>
            <a:srgbClr val="F4F8FB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075687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55A64"/>
                </a:solidFill>
              </a:rPr>
              <a:t>Patient Experience 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39" y="2075687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55A64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2075687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55A64"/>
                </a:solidFill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2075687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71C1C"/>
                </a:solidFill>
              </a:rPr>
              <a:t>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2075687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55A64"/>
                </a:solidFill>
              </a:rPr>
              <a:t>N/A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487168"/>
            <a:ext cx="8412480" cy="365760"/>
          </a:xfrm>
          <a:prstGeom prst="rect">
            <a:avLst/>
          </a:prstGeom>
          <a:solidFill>
            <a:srgbClr val="FFEBEE"/>
          </a:solidFill>
          <a:ln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551175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71C1C"/>
                </a:solidFill>
              </a:rPr>
              <a:t>⚠  Patient Experience Operations has 0% engagement — 1 tasks unresolved network-wide.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D2B55"/>
                </a:solidFill>
              </a:rPr>
              <a:t>Critical Alerts &amp; Escalations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55A64"/>
                </a:solidFill>
              </a:rPr>
              <a:t>High-priority items requiring leadership attention  |  April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8412480" cy="749808"/>
          </a:xfrm>
          <a:prstGeom prst="rect">
            <a:avLst/>
          </a:prstGeom>
          <a:solidFill>
            <a:srgbClr val="FFEBEE"/>
          </a:solidFill>
          <a:ln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73152" cy="74980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8138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71C1C"/>
                </a:solidFill>
              </a:rPr>
              <a:t>Good Samaritan Hospital Esophageal and Reflux Center  |  PFS: 0.8  |  5 days open  |  Owner: Review Engagement  |  Yelp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07592"/>
            <a:ext cx="8138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55A64"/>
                </a:solidFill>
              </a:rPr>
              <a:t>Wrong barium drink given for wrong test. Staff tried to cover up the mistake. No apology. Sick for two days.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8412480" cy="749808"/>
          </a:xfrm>
          <a:prstGeom prst="rect">
            <a:avLst/>
          </a:prstGeom>
          <a:solidFill>
            <a:srgbClr val="FFEBEE"/>
          </a:solidFill>
          <a:ln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73152" cy="74980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8138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71C1C"/>
                </a:solidFill>
              </a:rPr>
              <a:t>Westchester Medical Center  |  PFS: 1.0  |  19 days open  |  Owner: Patient Experience Operations  |  Google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30552"/>
            <a:ext cx="8138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55A64"/>
                </a:solidFill>
              </a:rPr>
              <a:t>I wouldn't go to this hospital the white doctors and staff are very racist towards patients and families of color.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8412480" cy="749808"/>
          </a:xfrm>
          <a:prstGeom prst="rect">
            <a:avLst/>
          </a:prstGeom>
          <a:solidFill>
            <a:srgbClr val="FFEBEE"/>
          </a:solidFill>
          <a:ln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651760"/>
            <a:ext cx="73152" cy="74980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97480"/>
            <a:ext cx="8138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71C1C"/>
                </a:solidFill>
              </a:rPr>
              <a:t>Westchester Medical Center  |  PFS: 1.7  |  5 days open  |  Owner: Review Engagement  |  Yelp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953512"/>
            <a:ext cx="8138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55A64"/>
                </a:solidFill>
              </a:rPr>
              <a:t>Dr. Holmes — demeanor was sarcastic and condescending. Left feeling dismissed after travelling significant distance.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D2B55"/>
                </a:solidFill>
              </a:rPr>
              <a:t>Critical Alerts – South 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55A64"/>
                </a:solidFill>
              </a:rPr>
              <a:t>High-priority items requiring leadership attention  |  April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8412480" cy="749808"/>
          </a:xfrm>
          <a:prstGeom prst="rect">
            <a:avLst/>
          </a:prstGeom>
          <a:solidFill>
            <a:srgbClr val="FFEBEE"/>
          </a:solidFill>
          <a:ln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73152" cy="74980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8138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71C1C"/>
                </a:solidFill>
              </a:rPr>
              <a:t>Westchester Medical Center  |  PFS: 1.0  |  19 days open  |  Owner: Patient Experience Operations  |  Google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07592"/>
            <a:ext cx="8138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55A64"/>
                </a:solidFill>
              </a:rPr>
              <a:t>I wouldn't go to this hospital the white doctors and staff are very racist towards patients and families of color.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8412480" cy="749808"/>
          </a:xfrm>
          <a:prstGeom prst="rect">
            <a:avLst/>
          </a:prstGeom>
          <a:solidFill>
            <a:srgbClr val="FFEBEE"/>
          </a:solidFill>
          <a:ln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73152" cy="74980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74519"/>
            <a:ext cx="8138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71C1C"/>
                </a:solidFill>
              </a:rPr>
              <a:t>Westchester Medical Center  |  PFS: 1.7  |  5 days open  |  Owner: Review Engagement  |  Yelp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30552"/>
            <a:ext cx="8138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55A64"/>
                </a:solidFill>
              </a:rPr>
              <a:t>Dr. Holmes — demeanor was sarcastic and condescending. Left feeling dismissed after travelling significant distance.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D2B55"/>
                </a:solidFill>
              </a:rPr>
              <a:t>Critical Alerts – North 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55A64"/>
                </a:solidFill>
              </a:rPr>
              <a:t>High-priority items requiring leadership attention  |  April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solidFill>
            <a:srgbClr val="E8F5E9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</a:rPr>
              <a:t>✔  No critical alerts for this region this month.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D2B55"/>
                </a:solidFill>
              </a:rPr>
              <a:t>Critical Alerts – West 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55A64"/>
                </a:solidFill>
              </a:rPr>
              <a:t>High-priority items requiring leadership attention  |  April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8412480" cy="749808"/>
          </a:xfrm>
          <a:prstGeom prst="rect">
            <a:avLst/>
          </a:prstGeom>
          <a:solidFill>
            <a:srgbClr val="FFEBEE"/>
          </a:solidFill>
          <a:ln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73152" cy="74980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8138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71C1C"/>
                </a:solidFill>
              </a:rPr>
              <a:t>Good Samaritan Hospital Esophageal and Reflux Center  |  PFS: 0.8  |  5 days open  |  Owner: Review Engagement  |  Yelp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07592"/>
            <a:ext cx="8138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55A64"/>
                </a:solidFill>
              </a:rPr>
              <a:t>Wrong barium drink given for wrong test. Staff tried to cover up the mistake. No apology. Sick for two days.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Recommendations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4114800" cy="1234440"/>
          </a:xfrm>
          <a:prstGeom prst="rect">
            <a:avLst/>
          </a:prstGeom>
          <a:solidFill>
            <a:srgbClr val="0A2040"/>
          </a:solidFill>
          <a:ln>
            <a:solidFill>
              <a:srgbClr val="1A3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515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F5350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051560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Close 1 Aged Open Tasks (14+ days)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417320"/>
            <a:ext cx="33101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C4D8"/>
                </a:solidFill>
              </a:rPr>
              <a:t>Prioritize: Westchester Medical Center. Target closure within 24 hours.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960120"/>
            <a:ext cx="4114800" cy="1234440"/>
          </a:xfrm>
          <a:prstGeom prst="rect">
            <a:avLst/>
          </a:prstGeom>
          <a:solidFill>
            <a:srgbClr val="0A2040"/>
          </a:solidFill>
          <a:ln>
            <a:solidFill>
              <a:srgbClr val="1A3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4608" y="10515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A726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13248" y="1051560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Escalate 2 Critical Score Reviews (PFS &lt; 1.5)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3248" y="1417320"/>
            <a:ext cx="33101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C4D8"/>
                </a:solidFill>
              </a:rPr>
              <a:t>Requires direct patient outreach, clinical review, and Patient Experience follow-up.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4114800" cy="1234440"/>
          </a:xfrm>
          <a:prstGeom prst="rect">
            <a:avLst/>
          </a:prstGeom>
          <a:solidFill>
            <a:srgbClr val="0A2040"/>
          </a:solidFill>
          <a:ln>
            <a:solidFill>
              <a:srgbClr val="1A3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423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2A5F5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423160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Recover 0% Engagement Owner Groups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788920"/>
            <a:ext cx="33101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C4D8"/>
                </a:solidFill>
              </a:rPr>
              <a:t>Patient Experience Operations at 0% engagement. Clarify ownership and set daily SLA review.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2331720"/>
            <a:ext cx="4114800" cy="1234440"/>
          </a:xfrm>
          <a:prstGeom prst="rect">
            <a:avLst/>
          </a:prstGeom>
          <a:solidFill>
            <a:srgbClr val="0A2040"/>
          </a:solidFill>
          <a:ln>
            <a:solidFill>
              <a:srgbClr val="1A3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4608" y="2423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6BB6A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13248" y="2423160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Improve Response Rate on Yelp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3248" y="2788920"/>
            <a:ext cx="33101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C4D8"/>
                </a:solidFill>
              </a:rPr>
              <a:t>Ensure all platforms are included in the managed engagement workflow.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03320"/>
            <a:ext cx="4114800" cy="1234440"/>
          </a:xfrm>
          <a:prstGeom prst="rect">
            <a:avLst/>
          </a:prstGeom>
          <a:solidFill>
            <a:srgbClr val="0A2040"/>
          </a:solidFill>
          <a:ln>
            <a:solidFill>
              <a:srgbClr val="1A3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79475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B47BC"/>
                </a:solidFill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3794759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Celebrate Positive Staff Feedback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4160520"/>
            <a:ext cx="33101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C4D8"/>
                </a:solidFill>
              </a:rPr>
              <a:t>Share named staff mentions with department heads. Nominate for Care Champions program.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Recommendations – South Region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4114800" cy="1234440"/>
          </a:xfrm>
          <a:prstGeom prst="rect">
            <a:avLst/>
          </a:prstGeom>
          <a:solidFill>
            <a:srgbClr val="0A2040"/>
          </a:solidFill>
          <a:ln>
            <a:solidFill>
              <a:srgbClr val="1A3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F5350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051560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Close 1 Aged Open Tasks (14+ days)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417320"/>
            <a:ext cx="33101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C4D8"/>
                </a:solidFill>
              </a:rPr>
              <a:t>Prioritize: Westchester Medical Center. Target closure within 24 hours.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960120"/>
            <a:ext cx="4114800" cy="1234440"/>
          </a:xfrm>
          <a:prstGeom prst="rect">
            <a:avLst/>
          </a:prstGeom>
          <a:solidFill>
            <a:srgbClr val="0A2040"/>
          </a:solidFill>
          <a:ln>
            <a:solidFill>
              <a:srgbClr val="1A3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4608" y="10515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A726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3248" y="1051560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Escalate 1 Critical Score Reviews (PFS &lt; 1.5)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3248" y="1417320"/>
            <a:ext cx="33101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C4D8"/>
                </a:solidFill>
              </a:rPr>
              <a:t>Requires direct patient outreach, clinical review, and Patient Experience follow-up.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4114800" cy="1234440"/>
          </a:xfrm>
          <a:prstGeom prst="rect">
            <a:avLst/>
          </a:prstGeom>
          <a:solidFill>
            <a:srgbClr val="0A2040"/>
          </a:solidFill>
          <a:ln>
            <a:solidFill>
              <a:srgbClr val="1A3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23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2A5F5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423160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Recover 0% Engagement Owner Groups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2788920"/>
            <a:ext cx="33101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C4D8"/>
                </a:solidFill>
              </a:rPr>
              <a:t>Patient Experience Operations at 0% engagement. Clarify ownership and set daily SLA review.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2331720"/>
            <a:ext cx="4114800" cy="1234440"/>
          </a:xfrm>
          <a:prstGeom prst="rect">
            <a:avLst/>
          </a:prstGeom>
          <a:solidFill>
            <a:srgbClr val="0A2040"/>
          </a:solidFill>
          <a:ln>
            <a:solidFill>
              <a:srgbClr val="1A3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4608" y="2423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6BB6A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3248" y="2423160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Improve Response Rate on Yelp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2788920"/>
            <a:ext cx="33101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C4D8"/>
                </a:solidFill>
              </a:rPr>
              <a:t>Ensure all platforms are included in the managed engagement workflow.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03320"/>
            <a:ext cx="4114800" cy="1234440"/>
          </a:xfrm>
          <a:prstGeom prst="rect">
            <a:avLst/>
          </a:prstGeom>
          <a:solidFill>
            <a:srgbClr val="0A2040"/>
          </a:solidFill>
          <a:ln>
            <a:solidFill>
              <a:srgbClr val="1A3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79475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B47BC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794759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Celebrate Positive Staff Feedback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4160520"/>
            <a:ext cx="33101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C4D8"/>
                </a:solidFill>
              </a:rPr>
              <a:t>Share named staff mentions with department heads. Nominate for Care Champions program.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Recommendations – North Region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4114800" cy="1234440"/>
          </a:xfrm>
          <a:prstGeom prst="rect">
            <a:avLst/>
          </a:prstGeom>
          <a:solidFill>
            <a:srgbClr val="0A2040"/>
          </a:solidFill>
          <a:ln>
            <a:solidFill>
              <a:srgbClr val="1A3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F5350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051560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Recover 0% Engagement Owner Groups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417320"/>
            <a:ext cx="33101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C4D8"/>
                </a:solidFill>
              </a:rPr>
              <a:t>Patient Experience Operations at 0% engagement. Clarify ownership and set daily SLA review.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960120"/>
            <a:ext cx="4114800" cy="1234440"/>
          </a:xfrm>
          <a:prstGeom prst="rect">
            <a:avLst/>
          </a:prstGeom>
          <a:solidFill>
            <a:srgbClr val="0A2040"/>
          </a:solidFill>
          <a:ln>
            <a:solidFill>
              <a:srgbClr val="1A3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4608" y="10515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A726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3248" y="1051560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Improve Response Rate on Yelp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3248" y="1417320"/>
            <a:ext cx="33101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C4D8"/>
                </a:solidFill>
              </a:rPr>
              <a:t>Ensure all platforms are included in the managed engagement workflow.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4114800" cy="1234440"/>
          </a:xfrm>
          <a:prstGeom prst="rect">
            <a:avLst/>
          </a:prstGeom>
          <a:solidFill>
            <a:srgbClr val="0A2040"/>
          </a:solidFill>
          <a:ln>
            <a:solidFill>
              <a:srgbClr val="1A3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23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2A5F5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423160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Celebrate Positive Staff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2788920"/>
            <a:ext cx="33101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C4D8"/>
                </a:solidFill>
              </a:rPr>
              <a:t>Share named staff mentions with department heads. Nominate for Care Champions program.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Recommendations – West Region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4114800" cy="1234440"/>
          </a:xfrm>
          <a:prstGeom prst="rect">
            <a:avLst/>
          </a:prstGeom>
          <a:solidFill>
            <a:srgbClr val="0A2040"/>
          </a:solidFill>
          <a:ln>
            <a:solidFill>
              <a:srgbClr val="1A3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F5350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051560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Escalate 1 Critical Score Reviews (PFS &lt; 1.5)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417320"/>
            <a:ext cx="33101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C4D8"/>
                </a:solidFill>
              </a:rPr>
              <a:t>Requires direct patient outreach, clinical review, and Patient Experience follow-up.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960120"/>
            <a:ext cx="4114800" cy="1234440"/>
          </a:xfrm>
          <a:prstGeom prst="rect">
            <a:avLst/>
          </a:prstGeom>
          <a:solidFill>
            <a:srgbClr val="0A2040"/>
          </a:solidFill>
          <a:ln>
            <a:solidFill>
              <a:srgbClr val="1A3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4608" y="10515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A726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3248" y="1051560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Recover 0% Engagement Owner Groups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3248" y="1417320"/>
            <a:ext cx="33101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C4D8"/>
                </a:solidFill>
              </a:rPr>
              <a:t>Patient Experience Operations at 0% engagement. Clarify ownership and set daily SLA review.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4114800" cy="1234440"/>
          </a:xfrm>
          <a:prstGeom prst="rect">
            <a:avLst/>
          </a:prstGeom>
          <a:solidFill>
            <a:srgbClr val="0A2040"/>
          </a:solidFill>
          <a:ln>
            <a:solidFill>
              <a:srgbClr val="1A3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23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2A5F5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423160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Improve Response Rate on Yelp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2788920"/>
            <a:ext cx="33101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C4D8"/>
                </a:solidFill>
              </a:rPr>
              <a:t>Ensure all platforms are included in the managed engagement workflow.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2331720"/>
            <a:ext cx="4114800" cy="1234440"/>
          </a:xfrm>
          <a:prstGeom prst="rect">
            <a:avLst/>
          </a:prstGeom>
          <a:solidFill>
            <a:srgbClr val="0A2040"/>
          </a:solidFill>
          <a:ln>
            <a:solidFill>
              <a:srgbClr val="1A3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4608" y="2423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6BB6A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3248" y="2423160"/>
            <a:ext cx="33101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Celebrate Positive Staff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2788920"/>
            <a:ext cx="33101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C4D8"/>
                </a:solidFill>
              </a:rPr>
              <a:t>Share named staff mentions with department heads. Nominate for Care Champions program.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